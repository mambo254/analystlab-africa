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8" r:id="rId7"/>
    <p:sldId id="264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08" y="44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CUSTOMER CHURN ANALYSIS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Prepared by: </a:t>
            </a:r>
            <a:r>
              <a:rPr lang="en-US" altLang="en-US" dirty="0" smtClean="0">
                <a:sym typeface="+mn-ea"/>
              </a:rPr>
              <a:t>Julius </a:t>
            </a:r>
            <a:r>
              <a:rPr lang="en-US" altLang="en-US" dirty="0" err="1" smtClean="0">
                <a:sym typeface="+mn-ea"/>
              </a:rPr>
              <a:t>muendo</a:t>
            </a:r>
            <a:r>
              <a:rPr lang="en-US" altLang="en-US" dirty="0" smtClean="0">
                <a:sym typeface="+mn-ea"/>
              </a:rPr>
              <a:t> </a:t>
            </a:r>
            <a:r>
              <a:rPr lang="en-US" altLang="en-US" dirty="0" err="1" smtClean="0">
                <a:sym typeface="+mn-ea"/>
              </a:rPr>
              <a:t>musau</a:t>
            </a:r>
            <a:r>
              <a:rPr lang="en-US" altLang="en-US" dirty="0">
                <a:sym typeface="+mn-ea"/>
              </a:rPr>
              <a:t/>
            </a:r>
            <a:br>
              <a:rPr lang="en-US" altLang="en-US" dirty="0">
                <a:sym typeface="+mn-ea"/>
              </a:rPr>
            </a:br>
            <a:r>
              <a:rPr lang="en-US" altLang="en-US" dirty="0" err="1">
                <a:sym typeface="+mn-ea"/>
              </a:rPr>
              <a:t>AnalystLab</a:t>
            </a:r>
            <a:r>
              <a:rPr lang="en-US" altLang="en-US" dirty="0">
                <a:sym typeface="+mn-ea"/>
              </a:rPr>
              <a:t> Africa Internship – Week 5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Business Problem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 sz="2400"/>
              <a:t>Customer churn is one of the biggest challenges faced by telecommunication companies. Losing customers results in reduced revenue, higher customer acquisition costs, and lower long-term profitability.</a:t>
            </a:r>
          </a:p>
          <a:p>
            <a:endParaRPr lang="en-US" altLang="en-US" sz="2400"/>
          </a:p>
          <a:p>
            <a:r>
              <a:rPr lang="en-US" altLang="en-US" sz="2400"/>
              <a:t>This project analyzes customer behavior to identify the key drivers of churn and provides data-driven recommendations to improve customer retention.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6170" y="288360"/>
            <a:ext cx="10969200" cy="705600"/>
          </a:xfrm>
        </p:spPr>
        <p:txBody>
          <a:bodyPr/>
          <a:lstStyle/>
          <a:p>
            <a:pPr algn="ctr"/>
            <a:r>
              <a:rPr lang="en-US" altLang="en-US">
                <a:sym typeface="+mn-ea"/>
              </a:rPr>
              <a:t>Dataset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53365" y="993775"/>
            <a:ext cx="11323955" cy="5629275"/>
          </a:xfrm>
        </p:spPr>
        <p:txBody>
          <a:bodyPr>
            <a:noAutofit/>
          </a:bodyPr>
          <a:lstStyle/>
          <a:p>
            <a:r>
              <a:rPr lang="en-US" altLang="en-US" dirty="0"/>
              <a:t>Dataset: Telco Customer Churn Dataset</a:t>
            </a:r>
          </a:p>
          <a:p>
            <a:r>
              <a:rPr lang="en-US" altLang="en-US" dirty="0"/>
              <a:t>Source: </a:t>
            </a:r>
            <a:r>
              <a:rPr lang="en-US" altLang="en-US" dirty="0" err="1"/>
              <a:t>Kaggle</a:t>
            </a:r>
            <a:endParaRPr lang="en-US" altLang="en-US" dirty="0"/>
          </a:p>
          <a:p>
            <a:r>
              <a:rPr lang="en-US" altLang="en-US" dirty="0"/>
              <a:t>Dataset Size:</a:t>
            </a:r>
          </a:p>
          <a:p>
            <a:pPr marL="0" indent="0">
              <a:buNone/>
            </a:pPr>
            <a:r>
              <a:rPr lang="en-US" altLang="en-US" dirty="0"/>
              <a:t>• 7,043 Customers</a:t>
            </a:r>
          </a:p>
          <a:p>
            <a:pPr marL="0" indent="0">
              <a:buNone/>
            </a:pPr>
            <a:r>
              <a:rPr lang="en-US" altLang="en-US" dirty="0"/>
              <a:t>• 21 Features</a:t>
            </a:r>
          </a:p>
          <a:p>
            <a:r>
              <a:rPr lang="en-US" altLang="en-US" dirty="0"/>
              <a:t>Fields include customer demographics, services subscribed, contract type, payment method, monthly charges, total charges, tenure, and churn status.</a:t>
            </a:r>
          </a:p>
          <a:p>
            <a:r>
              <a:rPr lang="en-US" altLang="en-US" dirty="0"/>
              <a:t>Tools Used:</a:t>
            </a:r>
          </a:p>
          <a:p>
            <a:r>
              <a:rPr lang="en-US" altLang="en-US" dirty="0" smtClean="0"/>
              <a:t>Python</a:t>
            </a:r>
            <a:endParaRPr lang="en-US" altLang="en-US" dirty="0"/>
          </a:p>
          <a:p>
            <a:r>
              <a:rPr lang="en-US" altLang="en-US" dirty="0"/>
              <a:t>Pandas</a:t>
            </a:r>
          </a:p>
          <a:p>
            <a:r>
              <a:rPr lang="en-US" altLang="en-US" dirty="0" err="1"/>
              <a:t>Matplotlib</a:t>
            </a:r>
            <a:endParaRPr lang="en-US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238830"/>
            <a:ext cx="10969200" cy="705600"/>
          </a:xfrm>
        </p:spPr>
        <p:txBody>
          <a:bodyPr/>
          <a:lstStyle/>
          <a:p>
            <a:pPr algn="ctr"/>
            <a:r>
              <a:rPr lang="en-US" altLang="en-US">
                <a:sym typeface="+mn-ea"/>
              </a:rPr>
              <a:t>Key Insights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343025"/>
            <a:ext cx="10968990" cy="4906645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 Month-to-month contracts recorded the highest customer churn.</a:t>
            </a:r>
          </a:p>
          <a:p>
            <a:r>
              <a:rPr lang="en-US" altLang="en-US" sz="2400" dirty="0"/>
              <a:t> Fiber optic customers experienced higher churn than DSL customers.</a:t>
            </a:r>
          </a:p>
          <a:p>
            <a:r>
              <a:rPr lang="en-US" altLang="en-US" sz="2400" dirty="0"/>
              <a:t> Customers with shorter tenure were significantly more likely to leave.</a:t>
            </a:r>
          </a:p>
          <a:p>
            <a:r>
              <a:rPr lang="en-US" altLang="en-US" sz="2400" dirty="0"/>
              <a:t> Customers with higher monthly charges showed a greater likelihood of churning.</a:t>
            </a:r>
          </a:p>
          <a:p>
            <a:r>
              <a:rPr lang="en-US" altLang="en-US" sz="2400" dirty="0"/>
              <a:t> Senior citizens exhibited a relatively higher churn rate than non-senior customers.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Churn by Contract Type</a:t>
            </a:r>
            <a:endParaRPr lang="en-US"/>
          </a:p>
        </p:txBody>
      </p:sp>
      <p:pic>
        <p:nvPicPr>
          <p:cNvPr id="11" name="Content Placeholder 10" descr="ChatGPT Image Jul 2, 2026, 08_25_39 PM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522855" y="1490345"/>
            <a:ext cx="7138670" cy="4759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Churn by Internet Service</a:t>
            </a:r>
            <a:endParaRPr lang="en-US"/>
          </a:p>
        </p:txBody>
      </p:sp>
      <p:pic>
        <p:nvPicPr>
          <p:cNvPr id="10" name="Content Placeholder 9" descr="ChatGPT Image Jul 2, 2026, 08_25_51 PM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41525" y="1490345"/>
            <a:ext cx="8101965" cy="4759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Average Monthly Charges by Churn</a:t>
            </a:r>
            <a:endParaRPr lang="en-US"/>
          </a:p>
        </p:txBody>
      </p:sp>
      <p:pic>
        <p:nvPicPr>
          <p:cNvPr id="10" name="Content Placeholder 9" descr="ChatGPT Image Jul 2, 2026, 08_25_27 PM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522855" y="1490345"/>
            <a:ext cx="7138670" cy="47593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85210" y="238195"/>
            <a:ext cx="10969200" cy="705600"/>
          </a:xfrm>
        </p:spPr>
        <p:txBody>
          <a:bodyPr/>
          <a:lstStyle/>
          <a:p>
            <a:pPr algn="ctr"/>
            <a:r>
              <a:rPr lang="en-US" altLang="en-US">
                <a:sym typeface="+mn-ea"/>
              </a:rPr>
              <a:t>Recommendations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096010"/>
            <a:ext cx="11092180" cy="5461635"/>
          </a:xfrm>
        </p:spPr>
        <p:txBody>
          <a:bodyPr>
            <a:noAutofit/>
          </a:bodyPr>
          <a:lstStyle/>
          <a:p>
            <a:r>
              <a:rPr lang="en-US" altLang="en-US" sz="2800"/>
              <a:t>Encourage customers to migrate to long-term contracts through targeted incentives.</a:t>
            </a:r>
          </a:p>
          <a:p>
            <a:r>
              <a:rPr lang="en-US" altLang="en-US" sz="2800"/>
              <a:t>Improve customer retention strategies for Fiber Optic subscribers.</a:t>
            </a:r>
          </a:p>
          <a:p>
            <a:r>
              <a:rPr lang="en-US" altLang="en-US" sz="2800"/>
              <a:t>Strengthen customer engagement during the first year of service.</a:t>
            </a:r>
          </a:p>
          <a:p>
            <a:r>
              <a:rPr lang="en-US" altLang="en-US" sz="2800"/>
              <a:t>Introduce loyalty rewards for high-risk customer segments.</a:t>
            </a:r>
          </a:p>
          <a:p>
            <a:r>
              <a:rPr lang="en-US" altLang="en-US" sz="2800"/>
              <a:t>Continuously monitor churn trends using interactive dashboards.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 sz="3200"/>
              <a:t>The Customer Churn Dashboard transformed raw customer data into meaningful business insights.</a:t>
            </a:r>
          </a:p>
          <a:p>
            <a:r>
              <a:rPr lang="en-US" altLang="en-US" sz="3200"/>
              <a:t>The analysis identified the key factors influencing customer churn and provided practical recommendations that can support customer retention and improve business performance through data-driven decision-making.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282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Wingdings</vt:lpstr>
      <vt:lpstr>WPS</vt:lpstr>
      <vt:lpstr>CUSTOMER CHURN ANALYSIS </vt:lpstr>
      <vt:lpstr>Business Problem</vt:lpstr>
      <vt:lpstr>Dataset Overview</vt:lpstr>
      <vt:lpstr>Key Insights</vt:lpstr>
      <vt:lpstr>Churn by Contract Type</vt:lpstr>
      <vt:lpstr>Churn by Internet Service</vt:lpstr>
      <vt:lpstr>Average Monthly Charges by Churn</vt:lpstr>
      <vt:lpstr>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creator>zeema</dc:creator>
  <cp:lastModifiedBy>SAM</cp:lastModifiedBy>
  <cp:revision>9</cp:revision>
  <dcterms:created xsi:type="dcterms:W3CDTF">2026-07-04T06:37:19Z</dcterms:created>
  <dcterms:modified xsi:type="dcterms:W3CDTF">2026-08-28T23:11:58Z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AC0D2704EF1140368382E2C86D223ECC_11</vt:lpwstr>
  </property>
</Properties>
</file>