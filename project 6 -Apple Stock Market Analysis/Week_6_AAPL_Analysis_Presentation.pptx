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97917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800" b="1"/>
            </a:pPr>
            <a:r>
              <a:rPr sz="4000" dirty="0" smtClean="0"/>
              <a:t>Apple Historical Stock Market Analysis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2143760" y="2656840"/>
            <a:ext cx="7965440" cy="19380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endParaRPr sz="4000" dirty="0"/>
          </a:p>
          <a:p>
            <a:pPr algn="ctr">
              <a:defRPr sz="2200"/>
            </a:pPr>
            <a:r>
              <a:rPr sz="4000" dirty="0" err="1"/>
              <a:t>AnalystLab</a:t>
            </a:r>
            <a:r>
              <a:rPr sz="4000" dirty="0"/>
              <a:t> Africa Internship – Week 6</a:t>
            </a:r>
          </a:p>
          <a:p>
            <a:pPr algn="ctr">
              <a:defRPr sz="2200"/>
            </a:pPr>
            <a:r>
              <a:rPr sz="4000" dirty="0"/>
              <a:t>Prepared by: </a:t>
            </a:r>
            <a:r>
              <a:rPr lang="en-US" sz="4000" dirty="0" smtClean="0"/>
              <a:t>Julius </a:t>
            </a:r>
            <a:r>
              <a:rPr lang="en-US" sz="4000" dirty="0" err="1" smtClean="0"/>
              <a:t>muendo</a:t>
            </a:r>
            <a:r>
              <a:rPr lang="en-US" sz="4000" dirty="0" smtClean="0"/>
              <a:t> </a:t>
            </a:r>
            <a:r>
              <a:rPr lang="en-US" sz="4000" dirty="0" err="1" smtClean="0"/>
              <a:t>musau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0630" y="286703"/>
            <a:ext cx="380619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7545" y="1890395"/>
            <a:ext cx="8249920" cy="338264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200"/>
            </a:pPr>
            <a:r>
              <a:rPr sz="4000"/>
              <a:t>• Analyze five years of Apple stock data</a:t>
            </a:r>
          </a:p>
          <a:p>
            <a:pPr algn="ctr">
              <a:defRPr sz="2200"/>
            </a:pPr>
            <a:r>
              <a:rPr sz="4000"/>
              <a:t>• Data transformation using Pandas</a:t>
            </a:r>
          </a:p>
          <a:p>
            <a:pPr algn="ctr">
              <a:defRPr sz="2200"/>
            </a:pPr>
            <a:r>
              <a:rPr sz="4000"/>
              <a:t>• Time-series analysis</a:t>
            </a:r>
          </a:p>
          <a:p>
            <a:pPr algn="ctr">
              <a:defRPr sz="2200"/>
            </a:pPr>
            <a:r>
              <a:rPr sz="4000"/>
              <a:t>• Feature engineering</a:t>
            </a:r>
          </a:p>
          <a:p>
            <a:pPr algn="ctr">
              <a:defRPr sz="2200"/>
            </a:pPr>
            <a:r>
              <a:rPr sz="4000"/>
              <a:t>• Actionable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795" y="1013460"/>
            <a:ext cx="11221085" cy="5302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200"/>
            </a:pPr>
            <a:r>
              <a:rPr sz="2800"/>
              <a:t>Source: Yahoo Finance</a:t>
            </a:r>
          </a:p>
          <a:p>
            <a:pPr algn="ctr">
              <a:defRPr sz="2200"/>
            </a:pPr>
            <a:r>
              <a:rPr sz="2800"/>
              <a:t>Period: Five Years</a:t>
            </a:r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Features:</a:t>
            </a:r>
          </a:p>
          <a:p>
            <a:pPr algn="ctr">
              <a:defRPr sz="2200"/>
            </a:pPr>
            <a:r>
              <a:rPr sz="2800"/>
              <a:t>• Date</a:t>
            </a:r>
          </a:p>
          <a:p>
            <a:pPr algn="ctr">
              <a:defRPr sz="2200"/>
            </a:pPr>
            <a:r>
              <a:rPr sz="2800"/>
              <a:t>• Open</a:t>
            </a:r>
          </a:p>
          <a:p>
            <a:pPr algn="ctr">
              <a:defRPr sz="2200"/>
            </a:pPr>
            <a:r>
              <a:rPr sz="2800"/>
              <a:t>• High</a:t>
            </a:r>
          </a:p>
          <a:p>
            <a:pPr algn="ctr">
              <a:defRPr sz="2200"/>
            </a:pPr>
            <a:r>
              <a:rPr sz="2800"/>
              <a:t>• Low</a:t>
            </a:r>
          </a:p>
          <a:p>
            <a:pPr algn="ctr">
              <a:defRPr sz="2200"/>
            </a:pPr>
            <a:r>
              <a:rPr sz="2800"/>
              <a:t>• Close</a:t>
            </a:r>
          </a:p>
          <a:p>
            <a:pPr algn="ctr">
              <a:defRPr sz="2200"/>
            </a:pPr>
            <a:r>
              <a:rPr sz="2800"/>
              <a:t>• Adjusted Close</a:t>
            </a:r>
          </a:p>
          <a:p>
            <a:pPr algn="ctr">
              <a:defRPr sz="2200"/>
            </a:pPr>
            <a:r>
              <a:rPr sz="2800"/>
              <a:t>•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4425" y="255905"/>
            <a:ext cx="4944110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Data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0290" y="1582420"/>
            <a:ext cx="7520940" cy="3784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800"/>
              <a:t>• Converted Date to datetime</a:t>
            </a:r>
          </a:p>
          <a:p>
            <a:pPr algn="ctr">
              <a:defRPr sz="2200"/>
            </a:pPr>
            <a:r>
              <a:rPr sz="4800"/>
              <a:t>• Daily Price Change</a:t>
            </a:r>
          </a:p>
          <a:p>
            <a:pPr algn="ctr">
              <a:defRPr sz="2200"/>
            </a:pPr>
            <a:r>
              <a:rPr sz="4800"/>
              <a:t>• Daily % Change</a:t>
            </a:r>
          </a:p>
          <a:p>
            <a:pPr algn="ctr">
              <a:defRPr sz="2200"/>
            </a:pPr>
            <a:r>
              <a:rPr sz="4800"/>
              <a:t>• High–Low Difference</a:t>
            </a:r>
          </a:p>
          <a:p>
            <a:pPr algn="ctr">
              <a:defRPr sz="2200"/>
            </a:pPr>
            <a:r>
              <a:rPr sz="4800"/>
              <a:t>• Year, Month &amp;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Closing Price Trend</a:t>
            </a:r>
          </a:p>
        </p:txBody>
      </p:sp>
      <p:pic>
        <p:nvPicPr>
          <p:cNvPr id="4" name="Picture 3" descr="Screenshot 2026-07-10 191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85" y="1129030"/>
            <a:ext cx="10118090" cy="5027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Trading Volume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t>[INSERT SCREENSHOT HERE]</a:t>
            </a:r>
          </a:p>
        </p:txBody>
      </p:sp>
      <p:pic>
        <p:nvPicPr>
          <p:cNvPr id="4" name="Picture 3" descr="Screenshot 2026-07-11 105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1280160"/>
            <a:ext cx="10373360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Moving Average Analysis</a:t>
            </a:r>
          </a:p>
        </p:txBody>
      </p:sp>
      <p:pic>
        <p:nvPicPr>
          <p:cNvPr id="4" name="Picture 3" descr="Screenshot 2026-07-11 105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85" y="960120"/>
            <a:ext cx="10196195" cy="578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t>Monthly Returns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6696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t>[INSERT SCREENSHOT HERE]</a:t>
            </a:r>
          </a:p>
        </p:txBody>
      </p:sp>
      <p:pic>
        <p:nvPicPr>
          <p:cNvPr id="4" name="Picture 3" descr="Screenshot 2026-07-11 1059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985" y="1182370"/>
            <a:ext cx="9885680" cy="5412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0148" y="255905"/>
            <a:ext cx="4812665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635" y="1705610"/>
            <a:ext cx="3524250" cy="3538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3200"/>
              <a:t>• Daily Price Change</a:t>
            </a:r>
          </a:p>
          <a:p>
            <a:pPr algn="ctr">
              <a:defRPr sz="2200"/>
            </a:pPr>
            <a:r>
              <a:rPr sz="3200"/>
              <a:t>• Daily % Change</a:t>
            </a:r>
          </a:p>
          <a:p>
            <a:pPr algn="ctr">
              <a:defRPr sz="2200"/>
            </a:pPr>
            <a:r>
              <a:rPr sz="3200"/>
              <a:t>• 7-Day MA</a:t>
            </a:r>
          </a:p>
          <a:p>
            <a:pPr algn="ctr">
              <a:defRPr sz="2200"/>
            </a:pPr>
            <a:r>
              <a:rPr sz="3200"/>
              <a:t>• 30-Day MA</a:t>
            </a:r>
          </a:p>
          <a:p>
            <a:pPr algn="ctr">
              <a:defRPr sz="2200"/>
            </a:pPr>
            <a:r>
              <a:rPr sz="3200"/>
              <a:t>• Daily Return</a:t>
            </a:r>
          </a:p>
          <a:p>
            <a:pPr algn="ctr">
              <a:defRPr sz="2200"/>
            </a:pPr>
            <a:r>
              <a:rPr sz="3200"/>
              <a:t>• Monthly Return</a:t>
            </a:r>
          </a:p>
          <a:p>
            <a:pPr algn="ctr">
              <a:defRPr sz="2200"/>
            </a:pPr>
            <a:r>
              <a:rPr sz="3200"/>
              <a:t>• Volatility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6305" y="286703"/>
            <a:ext cx="280035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18055" y="1890078"/>
            <a:ext cx="7725410" cy="31692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000"/>
              <a:t>Average Closing Price: $196.61</a:t>
            </a:r>
          </a:p>
          <a:p>
            <a:pPr algn="ctr">
              <a:defRPr sz="2200"/>
            </a:pPr>
            <a:r>
              <a:rPr sz="4000"/>
              <a:t>Average Trading Volume: 65,084,442</a:t>
            </a:r>
          </a:p>
          <a:p>
            <a:pPr algn="ctr">
              <a:defRPr sz="2200"/>
            </a:pPr>
            <a:r>
              <a:rPr sz="4000"/>
              <a:t>Average Daily Return: 0.08%</a:t>
            </a:r>
          </a:p>
          <a:p>
            <a:pPr algn="ctr">
              <a:defRPr sz="2200"/>
            </a:pPr>
            <a:r>
              <a:rPr sz="4000"/>
              <a:t>Average 30-Day Volatility: 1.64%</a:t>
            </a:r>
          </a:p>
          <a:p>
            <a:pPr algn="ctr">
              <a:defRPr sz="2200"/>
            </a:pPr>
            <a:r>
              <a:rPr sz="4000"/>
              <a:t>Overall Stock Growth: 117.49%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9055" y="255905"/>
            <a:ext cx="4514850" cy="7683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400"/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1550" y="2198053"/>
            <a:ext cx="7678420" cy="255333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/>
            </a:pPr>
            <a:r>
              <a:rPr sz="4000"/>
              <a:t>• Monitor long-term trends</a:t>
            </a:r>
          </a:p>
          <a:p>
            <a:pPr algn="ctr">
              <a:defRPr sz="2200"/>
            </a:pPr>
            <a:r>
              <a:rPr sz="4000"/>
              <a:t>• Consider volatility</a:t>
            </a:r>
          </a:p>
          <a:p>
            <a:pPr algn="ctr">
              <a:defRPr sz="2200"/>
            </a:pPr>
            <a:r>
              <a:rPr sz="4000"/>
              <a:t>• Compare peer companies</a:t>
            </a:r>
          </a:p>
          <a:p>
            <a:pPr algn="ctr">
              <a:defRPr sz="2200"/>
            </a:pPr>
            <a:r>
              <a:rPr sz="4000"/>
              <a:t>• Combine with economic indicators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6960" y="286703"/>
            <a:ext cx="2479040" cy="7067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/>
            </a:pPr>
            <a:r>
              <a:rPr sz="40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8295" y="1711960"/>
            <a:ext cx="11504930" cy="3568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sz="2200"/>
            </a:pPr>
            <a:r>
              <a:rPr sz="2800"/>
              <a:t>Advanced Python techniques successfully analyzed Apple's stock performance.</a:t>
            </a:r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Overall Stock Growth: 117.49%</a:t>
            </a:r>
          </a:p>
          <a:p>
            <a:pPr algn="ctr">
              <a:defRPr sz="2200"/>
            </a:pPr>
            <a:endParaRPr sz="2800"/>
          </a:p>
          <a:p>
            <a:pPr algn="ctr">
              <a:defRPr sz="2200"/>
            </a:pPr>
            <a:r>
              <a:rPr sz="28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dc:description>generated using python-pptx</dc:description>
  <cp:lastModifiedBy>SAM</cp:lastModifiedBy>
  <cp:revision>3</cp:revision>
  <dcterms:created xsi:type="dcterms:W3CDTF">2013-01-27T09:14:00Z</dcterms:created>
  <dcterms:modified xsi:type="dcterms:W3CDTF">2026-08-28T23:36:51Z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F9E09798AE404EFDA0EB5EDB5F15ABEB_12</vt:lpwstr>
  </property>
  <property fmtid="{D5CDD505-2E9C-101B-9397-08002B2CF9AE}" pid="3" name="KSOProductBuildVer">
    <vt:lpwstr>1033-12.1.0.26880</vt:lpwstr>
  </property>
</Properties>
</file>